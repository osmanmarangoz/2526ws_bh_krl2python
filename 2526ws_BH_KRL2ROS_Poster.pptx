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90" r:id="rId1"/>
  </p:sldMasterIdLst>
  <p:notesMasterIdLst>
    <p:notesMasterId r:id="rId3"/>
  </p:notesMasterIdLst>
  <p:sldIdLst>
    <p:sldId id="289" r:id="rId2"/>
  </p:sldIdLst>
  <p:sldSz cx="21383625" cy="30275213"/>
  <p:notesSz cx="6858000" cy="9144000"/>
  <p:embeddedFontLst>
    <p:embeddedFont>
      <p:font typeface="GT Pressura" panose="020B0604020202020204" charset="0"/>
      <p:regular r:id="rId4"/>
    </p:embeddedFont>
    <p:embeddedFont>
      <p:font typeface="GT Pressura Light" panose="020B0604020202020204" charset="0"/>
      <p:regular r:id="rId5"/>
    </p:embeddedFont>
  </p:embeddedFontLst>
  <p:defaultTextStyle>
    <a:defPPr>
      <a:defRPr lang="en-US"/>
    </a:defPPr>
    <a:lvl1pPr marL="0" algn="l" defTabSz="915040" rtl="0" eaLnBrk="1" latinLnBrk="0" hangingPunct="1">
      <a:defRPr sz="3603" kern="1200">
        <a:solidFill>
          <a:schemeClr val="tx1"/>
        </a:solidFill>
        <a:latin typeface="+mn-lt"/>
        <a:ea typeface="+mn-ea"/>
        <a:cs typeface="+mn-cs"/>
      </a:defRPr>
    </a:lvl1pPr>
    <a:lvl2pPr marL="915040" algn="l" defTabSz="915040" rtl="0" eaLnBrk="1" latinLnBrk="0" hangingPunct="1">
      <a:defRPr sz="3603" kern="1200">
        <a:solidFill>
          <a:schemeClr val="tx1"/>
        </a:solidFill>
        <a:latin typeface="+mn-lt"/>
        <a:ea typeface="+mn-ea"/>
        <a:cs typeface="+mn-cs"/>
      </a:defRPr>
    </a:lvl2pPr>
    <a:lvl3pPr marL="1830080" algn="l" defTabSz="915040" rtl="0" eaLnBrk="1" latinLnBrk="0" hangingPunct="1">
      <a:defRPr sz="3603" kern="1200">
        <a:solidFill>
          <a:schemeClr val="tx1"/>
        </a:solidFill>
        <a:latin typeface="+mn-lt"/>
        <a:ea typeface="+mn-ea"/>
        <a:cs typeface="+mn-cs"/>
      </a:defRPr>
    </a:lvl3pPr>
    <a:lvl4pPr marL="2745120" algn="l" defTabSz="915040" rtl="0" eaLnBrk="1" latinLnBrk="0" hangingPunct="1">
      <a:defRPr sz="3603" kern="1200">
        <a:solidFill>
          <a:schemeClr val="tx1"/>
        </a:solidFill>
        <a:latin typeface="+mn-lt"/>
        <a:ea typeface="+mn-ea"/>
        <a:cs typeface="+mn-cs"/>
      </a:defRPr>
    </a:lvl4pPr>
    <a:lvl5pPr marL="3660160" algn="l" defTabSz="915040" rtl="0" eaLnBrk="1" latinLnBrk="0" hangingPunct="1">
      <a:defRPr sz="3603" kern="1200">
        <a:solidFill>
          <a:schemeClr val="tx1"/>
        </a:solidFill>
        <a:latin typeface="+mn-lt"/>
        <a:ea typeface="+mn-ea"/>
        <a:cs typeface="+mn-cs"/>
      </a:defRPr>
    </a:lvl5pPr>
    <a:lvl6pPr marL="4575200" algn="l" defTabSz="915040" rtl="0" eaLnBrk="1" latinLnBrk="0" hangingPunct="1">
      <a:defRPr sz="3603" kern="1200">
        <a:solidFill>
          <a:schemeClr val="tx1"/>
        </a:solidFill>
        <a:latin typeface="+mn-lt"/>
        <a:ea typeface="+mn-ea"/>
        <a:cs typeface="+mn-cs"/>
      </a:defRPr>
    </a:lvl6pPr>
    <a:lvl7pPr marL="5490240" algn="l" defTabSz="915040" rtl="0" eaLnBrk="1" latinLnBrk="0" hangingPunct="1">
      <a:defRPr sz="3603" kern="1200">
        <a:solidFill>
          <a:schemeClr val="tx1"/>
        </a:solidFill>
        <a:latin typeface="+mn-lt"/>
        <a:ea typeface="+mn-ea"/>
        <a:cs typeface="+mn-cs"/>
      </a:defRPr>
    </a:lvl7pPr>
    <a:lvl8pPr marL="6405281" algn="l" defTabSz="915040" rtl="0" eaLnBrk="1" latinLnBrk="0" hangingPunct="1">
      <a:defRPr sz="3603" kern="1200">
        <a:solidFill>
          <a:schemeClr val="tx1"/>
        </a:solidFill>
        <a:latin typeface="+mn-lt"/>
        <a:ea typeface="+mn-ea"/>
        <a:cs typeface="+mn-cs"/>
      </a:defRPr>
    </a:lvl8pPr>
    <a:lvl9pPr marL="7320321" algn="l" defTabSz="915040" rtl="0" eaLnBrk="1" latinLnBrk="0" hangingPunct="1">
      <a:defRPr sz="360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69AF"/>
    <a:srgbClr val="1E4696"/>
    <a:srgbClr val="198282"/>
    <a:srgbClr val="288732"/>
    <a:srgbClr val="D72305"/>
    <a:srgbClr val="64378C"/>
    <a:srgbClr val="8C2382"/>
    <a:srgbClr val="D72300"/>
    <a:srgbClr val="EA0000"/>
    <a:srgbClr val="006B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06" autoAdjust="0"/>
    <p:restoredTop sz="93867" autoAdjust="0"/>
  </p:normalViewPr>
  <p:slideViewPr>
    <p:cSldViewPr snapToGrid="0" snapToObjects="1">
      <p:cViewPr varScale="1">
        <p:scale>
          <a:sx n="16" d="100"/>
          <a:sy n="16" d="100"/>
        </p:scale>
        <p:origin x="2448" y="1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157" d="100"/>
          <a:sy n="157" d="100"/>
        </p:scale>
        <p:origin x="3592" y="17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C1F608-7D39-B243-AD60-D0569B8B85AE}" type="datetimeFigureOut">
              <a:rPr lang="de-DE" smtClean="0"/>
              <a:t>22.03.2026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30B4A-5605-8D48-951F-7CFBFA061A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1772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30080" rtl="0" eaLnBrk="1" latinLnBrk="0" hangingPunct="1">
      <a:defRPr sz="2402" kern="1200">
        <a:solidFill>
          <a:schemeClr val="tx1"/>
        </a:solidFill>
        <a:latin typeface="+mn-lt"/>
        <a:ea typeface="+mn-ea"/>
        <a:cs typeface="+mn-cs"/>
      </a:defRPr>
    </a:lvl1pPr>
    <a:lvl2pPr marL="915040" algn="l" defTabSz="1830080" rtl="0" eaLnBrk="1" latinLnBrk="0" hangingPunct="1">
      <a:defRPr sz="2402" kern="1200">
        <a:solidFill>
          <a:schemeClr val="tx1"/>
        </a:solidFill>
        <a:latin typeface="+mn-lt"/>
        <a:ea typeface="+mn-ea"/>
        <a:cs typeface="+mn-cs"/>
      </a:defRPr>
    </a:lvl2pPr>
    <a:lvl3pPr marL="1830080" algn="l" defTabSz="1830080" rtl="0" eaLnBrk="1" latinLnBrk="0" hangingPunct="1">
      <a:defRPr sz="2402" kern="1200">
        <a:solidFill>
          <a:schemeClr val="tx1"/>
        </a:solidFill>
        <a:latin typeface="+mn-lt"/>
        <a:ea typeface="+mn-ea"/>
        <a:cs typeface="+mn-cs"/>
      </a:defRPr>
    </a:lvl3pPr>
    <a:lvl4pPr marL="2745120" algn="l" defTabSz="1830080" rtl="0" eaLnBrk="1" latinLnBrk="0" hangingPunct="1">
      <a:defRPr sz="2402" kern="1200">
        <a:solidFill>
          <a:schemeClr val="tx1"/>
        </a:solidFill>
        <a:latin typeface="+mn-lt"/>
        <a:ea typeface="+mn-ea"/>
        <a:cs typeface="+mn-cs"/>
      </a:defRPr>
    </a:lvl4pPr>
    <a:lvl5pPr marL="3660160" algn="l" defTabSz="1830080" rtl="0" eaLnBrk="1" latinLnBrk="0" hangingPunct="1">
      <a:defRPr sz="2402" kern="1200">
        <a:solidFill>
          <a:schemeClr val="tx1"/>
        </a:solidFill>
        <a:latin typeface="+mn-lt"/>
        <a:ea typeface="+mn-ea"/>
        <a:cs typeface="+mn-cs"/>
      </a:defRPr>
    </a:lvl5pPr>
    <a:lvl6pPr marL="4575200" algn="l" defTabSz="1830080" rtl="0" eaLnBrk="1" latinLnBrk="0" hangingPunct="1">
      <a:defRPr sz="2402" kern="1200">
        <a:solidFill>
          <a:schemeClr val="tx1"/>
        </a:solidFill>
        <a:latin typeface="+mn-lt"/>
        <a:ea typeface="+mn-ea"/>
        <a:cs typeface="+mn-cs"/>
      </a:defRPr>
    </a:lvl6pPr>
    <a:lvl7pPr marL="5490240" algn="l" defTabSz="1830080" rtl="0" eaLnBrk="1" latinLnBrk="0" hangingPunct="1">
      <a:defRPr sz="2402" kern="1200">
        <a:solidFill>
          <a:schemeClr val="tx1"/>
        </a:solidFill>
        <a:latin typeface="+mn-lt"/>
        <a:ea typeface="+mn-ea"/>
        <a:cs typeface="+mn-cs"/>
      </a:defRPr>
    </a:lvl7pPr>
    <a:lvl8pPr marL="6405281" algn="l" defTabSz="1830080" rtl="0" eaLnBrk="1" latinLnBrk="0" hangingPunct="1">
      <a:defRPr sz="2402" kern="1200">
        <a:solidFill>
          <a:schemeClr val="tx1"/>
        </a:solidFill>
        <a:latin typeface="+mn-lt"/>
        <a:ea typeface="+mn-ea"/>
        <a:cs typeface="+mn-cs"/>
      </a:defRPr>
    </a:lvl8pPr>
    <a:lvl9pPr marL="7320321" algn="l" defTabSz="1830080" rtl="0" eaLnBrk="1" latinLnBrk="0" hangingPunct="1">
      <a:defRPr sz="24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230B4A-5605-8D48-951F-7CFBFA061AAA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3272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lakat_A3 // nur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23323825" y="16691364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7206" dirty="0" err="1"/>
          </a:p>
        </p:txBody>
      </p:sp>
      <p:sp>
        <p:nvSpPr>
          <p:cNvPr id="15" name="Textplatzhalter 4">
            <a:extLst>
              <a:ext uri="{FF2B5EF4-FFF2-40B4-BE49-F238E27FC236}">
                <a16:creationId xmlns:a16="http://schemas.microsoft.com/office/drawing/2014/main" id="{D515786F-E9AF-8C4D-8EC2-253864FCC1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725" y="4587250"/>
            <a:ext cx="14468473" cy="519517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00" b="0" i="0" baseline="0">
                <a:solidFill>
                  <a:schemeClr val="accent1"/>
                </a:solidFill>
                <a:latin typeface="GT Pressura" pitchFamily="2" charset="77"/>
              </a:defRPr>
            </a:lvl1pPr>
            <a:lvl2pPr marL="0" indent="0">
              <a:spcBef>
                <a:spcPts val="0"/>
              </a:spcBef>
              <a:buNone/>
              <a:defRPr sz="6000" b="0" i="0">
                <a:latin typeface="GT Pressura Light" pitchFamily="2" charset="77"/>
              </a:defRPr>
            </a:lvl2pPr>
          </a:lstStyle>
          <a:p>
            <a:pPr lvl="0"/>
            <a:r>
              <a:rPr lang="de-DE" dirty="0"/>
              <a:t>Projekttitel</a:t>
            </a:r>
          </a:p>
          <a:p>
            <a:pPr lvl="0"/>
            <a:r>
              <a:rPr lang="de-DE" dirty="0"/>
              <a:t>hier</a:t>
            </a:r>
          </a:p>
          <a:p>
            <a:pPr lvl="0"/>
            <a:r>
              <a:rPr lang="de-DE" dirty="0"/>
              <a:t>maximal</a:t>
            </a:r>
          </a:p>
          <a:p>
            <a:pPr lvl="0"/>
            <a:r>
              <a:rPr lang="de-DE" dirty="0"/>
              <a:t>4-zeilig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2F38788E-8443-4497-8D51-CC1B3085F8DF}"/>
              </a:ext>
            </a:extLst>
          </p:cNvPr>
          <p:cNvSpPr/>
          <p:nvPr userDrawn="1"/>
        </p:nvSpPr>
        <p:spPr>
          <a:xfrm>
            <a:off x="887030" y="29444110"/>
            <a:ext cx="203183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2800" dirty="0">
                <a:cs typeface="Arial" charset="0"/>
              </a:rPr>
              <a:t>Hochschule Karlsruhe | Fakultät für Maschinenbau und Mechatronik | Moltkestraße 30, 76133 Karlsruhe | Tel.: 0721 925-1914/-1708</a:t>
            </a:r>
            <a:endParaRPr lang="de-DE" sz="2800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D3FAB531-D6AC-4642-9BB4-70F3B417728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052175" y="23022203"/>
            <a:ext cx="9610724" cy="6213744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2114DE6-6554-445E-A657-1508121AAF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0726" y="10356409"/>
            <a:ext cx="9610724" cy="11119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6400" b="1">
                <a:solidFill>
                  <a:srgbClr val="2869AF"/>
                </a:solidFill>
              </a:defRPr>
            </a:lvl1pPr>
          </a:lstStyle>
          <a:p>
            <a:pPr lvl="0"/>
            <a:r>
              <a:rPr lang="de-DE" dirty="0"/>
              <a:t>Ziel des Projekts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115A882-9C15-4E15-96E5-42897AAB188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5324" y="11468316"/>
            <a:ext cx="9661524" cy="43558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714E098-9AD3-4FB4-96C7-704DAACC0E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9923" y="16155716"/>
            <a:ext cx="9661526" cy="11545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 b="1">
                <a:solidFill>
                  <a:srgbClr val="2869AF"/>
                </a:solidFill>
              </a:defRPr>
            </a:lvl1pPr>
          </a:lstStyle>
          <a:p>
            <a:pPr lvl="0"/>
            <a:r>
              <a:rPr lang="de-DE" dirty="0"/>
              <a:t>Vorgehensweise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203797CD-4A12-46A8-ACFA-0619E93FD4A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7550" y="17316032"/>
            <a:ext cx="9661524" cy="51951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2056D627-49CE-49D1-8DC8-827CAC547A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046229" y="10356409"/>
            <a:ext cx="9610724" cy="11119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 b="1">
                <a:solidFill>
                  <a:srgbClr val="2869AF"/>
                </a:solidFill>
              </a:defRPr>
            </a:lvl1pPr>
            <a:lvl2pPr marL="914400" indent="0">
              <a:buNone/>
              <a:defRPr/>
            </a:lvl2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7E97168C-1454-42B3-A687-87B219414C6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9926" y="23081700"/>
            <a:ext cx="9661524" cy="12789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 b="1">
                <a:solidFill>
                  <a:srgbClr val="2869AF"/>
                </a:solidFill>
              </a:defRPr>
            </a:lvl1pPr>
          </a:lstStyle>
          <a:p>
            <a:pPr lvl="0"/>
            <a:r>
              <a:rPr lang="de-DE" dirty="0"/>
              <a:t>Projektinformation</a:t>
            </a:r>
          </a:p>
        </p:txBody>
      </p:sp>
      <p:sp>
        <p:nvSpPr>
          <p:cNvPr id="24" name="Bildplatzhalter 23">
            <a:extLst>
              <a:ext uri="{FF2B5EF4-FFF2-40B4-BE49-F238E27FC236}">
                <a16:creationId xmlns:a16="http://schemas.microsoft.com/office/drawing/2014/main" id="{E8986ABE-93C1-4A34-9B4C-EC19982C1B9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1052175" y="16155713"/>
            <a:ext cx="9610724" cy="6355491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DB546EA5-57D0-45E8-882B-7986913379F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074401" y="11468316"/>
            <a:ext cx="9613900" cy="43558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r>
              <a:rPr lang="de-DE" dirty="0"/>
              <a:t>Beschreibung Fotos/Grafiken/Tabellen; ggf. Bildquelle</a:t>
            </a:r>
          </a:p>
        </p:txBody>
      </p:sp>
    </p:spTree>
    <p:extLst>
      <p:ext uri="{BB962C8B-B14F-4D97-AF65-F5344CB8AC3E}">
        <p14:creationId xmlns:p14="http://schemas.microsoft.com/office/powerpoint/2010/main" val="859288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1" userDrawn="1">
          <p15:clr>
            <a:srgbClr val="FBAE40"/>
          </p15:clr>
        </p15:guide>
        <p15:guide id="2" pos="452" userDrawn="1">
          <p15:clr>
            <a:srgbClr val="FBAE40"/>
          </p15:clr>
        </p15:guide>
        <p15:guide id="3" pos="13018" userDrawn="1">
          <p15:clr>
            <a:srgbClr val="FBAE40"/>
          </p15:clr>
        </p15:guide>
        <p15:guide id="4" orient="horz" pos="18618" userDrawn="1">
          <p15:clr>
            <a:srgbClr val="FBAE40"/>
          </p15:clr>
        </p15:guide>
        <p15:guide id="5" orient="horz" pos="17709" userDrawn="1">
          <p15:clr>
            <a:srgbClr val="FBAE40"/>
          </p15:clr>
        </p15:guide>
        <p15:guide id="6" orient="horz" pos="3632" userDrawn="1">
          <p15:clr>
            <a:srgbClr val="FBAE40"/>
          </p15:clr>
        </p15:guide>
        <p15:guide id="7" orient="horz" pos="17029" userDrawn="1">
          <p15:clr>
            <a:srgbClr val="FBAE40"/>
          </p15:clr>
        </p15:guide>
        <p15:guide id="8" orient="horz" pos="14532" userDrawn="1">
          <p15:clr>
            <a:srgbClr val="FBAE40"/>
          </p15:clr>
        </p15:guide>
        <p15:guide id="9" orient="horz" pos="15076" userDrawn="1">
          <p15:clr>
            <a:srgbClr val="FBAE40"/>
          </p15:clr>
        </p15:guide>
        <p15:guide id="10" orient="horz" pos="12443" userDrawn="1">
          <p15:clr>
            <a:srgbClr val="FBAE40"/>
          </p15:clr>
        </p15:guide>
        <p15:guide id="11" orient="horz" pos="11988" userDrawn="1">
          <p15:clr>
            <a:srgbClr val="FBAE40"/>
          </p15:clr>
        </p15:guide>
        <p15:guide id="12" pos="6962" userDrawn="1">
          <p15:clr>
            <a:srgbClr val="FBAE40"/>
          </p15:clr>
        </p15:guide>
        <p15:guide id="13" pos="6508" userDrawn="1">
          <p15:clr>
            <a:srgbClr val="FBAE40"/>
          </p15:clr>
        </p15:guide>
        <p15:guide id="14" orient="horz" pos="240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1.jpg"/><Relationship Id="rId7" Type="http://schemas.openxmlformats.org/officeDocument/2006/relationships/image" Target="../media/image3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file:////Users/dp82/Dropbox/KUNDE_HKA%20&#8211;%20Hochschule%20Karlsruhe/04_Gestaltung/Logos%20Intern/RGB/HKA_MMT_H_RGB.svg" TargetMode="External"/><Relationship Id="rId5" Type="http://schemas.openxmlformats.org/officeDocument/2006/relationships/image" Target="../media/image2.svg"/><Relationship Id="rId4" Type="http://schemas.openxmlformats.org/officeDocument/2006/relationships/image" Target="file:////Users/dp82/Dropbox/KUNDE_HKA%20&#8211;%20Hochschule%20Karlsruhe/04_Gestaltung/Logos/Fakulta&#776;ten/MMT/RGB/HKA_MMT_Wortmarke_RGB.jpg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8435BA49-37BB-F34C-A71D-7379707485B1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/>
          <a:stretch>
            <a:fillRect/>
          </a:stretch>
        </p:blipFill>
        <p:spPr>
          <a:xfrm>
            <a:off x="754284" y="1309476"/>
            <a:ext cx="4330964" cy="2416893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0E6A0539-61AA-064F-930E-8707F98F03F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5" r:link="rId6"/>
              </a:ext>
            </a:extLst>
          </a:blip>
          <a:stretch>
            <a:fillRect/>
          </a:stretch>
        </p:blipFill>
        <p:spPr>
          <a:xfrm>
            <a:off x="16417919" y="1265935"/>
            <a:ext cx="3574192" cy="241247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E4EB7A6-250C-45B0-8DAF-3AAA7D1BC07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94165" y="3654696"/>
            <a:ext cx="3574192" cy="5950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038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13A75ED-172F-4948-AC02-B69A477CB1B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anchor="ctr"/>
          <a:lstStyle/>
          <a:p>
            <a:r>
              <a:rPr lang="de-DE" b="1" dirty="0"/>
              <a:t>KRL2Python</a:t>
            </a:r>
          </a:p>
          <a:p>
            <a:r>
              <a:rPr lang="de-DE" sz="5400" b="1" dirty="0"/>
              <a:t>Python-</a:t>
            </a:r>
            <a:r>
              <a:rPr lang="de-DE" sz="5400" b="1" dirty="0" err="1"/>
              <a:t>Based</a:t>
            </a:r>
            <a:r>
              <a:rPr lang="de-DE" sz="5400" b="1" dirty="0"/>
              <a:t> Control </a:t>
            </a:r>
            <a:r>
              <a:rPr lang="de-DE" sz="5400" b="1" dirty="0" err="1"/>
              <a:t>of</a:t>
            </a:r>
            <a:r>
              <a:rPr lang="de-DE" sz="5400" b="1" dirty="0"/>
              <a:t> a Kuka KR3 via Ethernet KRL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5270A3A-2DA5-437C-941D-2F0FF2906D7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 dirty="0"/>
              <a:t>Ziel des Projekts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41A0441-B6E8-4676-B2C8-7689F5DF454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/>
              <a:t>Entwicklung einer </a:t>
            </a:r>
            <a:r>
              <a:rPr lang="de-DE" b="1" dirty="0"/>
              <a:t>Python-basierten Steuerung für einen KUKA KR3 in einer ready2_educate Schulungszelle</a:t>
            </a:r>
            <a:r>
              <a:rPr lang="de-DE" dirty="0"/>
              <a:t>.</a:t>
            </a:r>
          </a:p>
          <a:p>
            <a:r>
              <a:rPr lang="de-DE" dirty="0"/>
              <a:t>Roboterbewegungen werden als </a:t>
            </a:r>
            <a:r>
              <a:rPr lang="de-DE" b="1" dirty="0"/>
              <a:t>Motion Primitives</a:t>
            </a:r>
            <a:r>
              <a:rPr lang="de-DE" dirty="0"/>
              <a:t> in Python definiert und über die </a:t>
            </a:r>
            <a:r>
              <a:rPr lang="de-DE" b="1" dirty="0"/>
              <a:t>Ethernet KRL (EKI) Schnittstelle</a:t>
            </a:r>
            <a:r>
              <a:rPr lang="de-DE" dirty="0"/>
              <a:t> an die Steuerung übertragen, wo sie von einem Hintergrundprogramm ausgeführt werden.</a:t>
            </a:r>
          </a:p>
          <a:p>
            <a:r>
              <a:rPr lang="de-DE" dirty="0"/>
              <a:t>Der Einsatz von Python eröffnet </a:t>
            </a:r>
            <a:r>
              <a:rPr lang="de-DE" b="1" dirty="0"/>
              <a:t>neue Möglichkeiten</a:t>
            </a:r>
            <a:r>
              <a:rPr lang="de-DE" dirty="0"/>
              <a:t> für Simulation, Datenverarbeitung und KI-Integration. Gleichzeitig sinkt die Einstiegshürde, da keine direkte KRL-Programmierung erforderlich ist.</a:t>
            </a:r>
          </a:p>
          <a:p>
            <a:endParaRPr lang="de-DE" sz="240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9671098-1AE1-4B03-9FA3-5E2F812A323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9921" y="16612450"/>
            <a:ext cx="9661526" cy="1154566"/>
          </a:xfrm>
        </p:spPr>
        <p:txBody>
          <a:bodyPr/>
          <a:lstStyle/>
          <a:p>
            <a:r>
              <a:rPr lang="de-DE" dirty="0"/>
              <a:t>Vorgehensweise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BBD6559-06C1-4092-9DF0-C4348C5FDB2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9923" y="17730840"/>
            <a:ext cx="9661524" cy="519517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dirty="0"/>
              <a:t>Übernahme und Modifikation eines bestehenden </a:t>
            </a:r>
            <a:r>
              <a:rPr lang="de-DE" b="1" dirty="0"/>
              <a:t>EKI/KRL-Interfaces</a:t>
            </a:r>
            <a:r>
              <a:rPr lang="de-DE" dirty="0"/>
              <a:t> aus externem Repository (läuft auf der Steuerung)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dirty="0"/>
              <a:t>Generierung von Bewegungsbefehlen (</a:t>
            </a:r>
            <a:r>
              <a:rPr lang="de-DE" b="1" dirty="0"/>
              <a:t>PTP, LIN, Greifen</a:t>
            </a:r>
            <a:r>
              <a:rPr lang="de-DE" dirty="0"/>
              <a:t>) in </a:t>
            </a:r>
            <a:r>
              <a:rPr lang="de-DE" b="1" dirty="0"/>
              <a:t>Python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dirty="0"/>
              <a:t>Übertragung der Befehle über </a:t>
            </a:r>
            <a:r>
              <a:rPr lang="de-DE" b="1" dirty="0"/>
              <a:t>Ethernet KRL (EKI)</a:t>
            </a:r>
            <a:r>
              <a:rPr lang="de-DE" dirty="0"/>
              <a:t> an den Roboter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dirty="0"/>
              <a:t>Parallele </a:t>
            </a:r>
            <a:r>
              <a:rPr lang="de-DE" b="1" dirty="0" err="1"/>
              <a:t>PyBullet</a:t>
            </a:r>
            <a:r>
              <a:rPr lang="de-DE" b="1" dirty="0"/>
              <a:t>-Visualisierung</a:t>
            </a:r>
            <a:r>
              <a:rPr lang="de-DE" dirty="0"/>
              <a:t> der vom Roboter zurückgemeldeten </a:t>
            </a:r>
            <a:r>
              <a:rPr lang="de-DE" b="1" dirty="0"/>
              <a:t>Gelenkzustände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E0CD6BF-86D2-4061-9917-DD3C18FA4AA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Beschreibung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F5C6B75-79AB-4D03-919B-E774CE3EDC7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9926" y="23072118"/>
            <a:ext cx="9661524" cy="1153172"/>
          </a:xfrm>
        </p:spPr>
        <p:txBody>
          <a:bodyPr/>
          <a:lstStyle/>
          <a:p>
            <a:r>
              <a:rPr lang="de-DE" dirty="0"/>
              <a:t>Projektinformation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755904F9-51B7-498B-AB24-5FB510AFFCF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BEBD2CF-2A9D-4B33-B54A-27AF3619239A}"/>
              </a:ext>
            </a:extLst>
          </p:cNvPr>
          <p:cNvSpPr/>
          <p:nvPr/>
        </p:nvSpPr>
        <p:spPr>
          <a:xfrm>
            <a:off x="669923" y="24154332"/>
            <a:ext cx="1002189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3200" b="1" dirty="0"/>
              <a:t>Art der Arbeit: </a:t>
            </a:r>
            <a:r>
              <a:rPr lang="de-DE" sz="3200" dirty="0"/>
              <a:t>Projektarbeit</a:t>
            </a:r>
            <a:br>
              <a:rPr lang="de-DE" sz="3200" dirty="0"/>
            </a:br>
            <a:r>
              <a:rPr lang="de-DE" sz="3200" b="1" dirty="0"/>
              <a:t>Dauer der Arbeit: </a:t>
            </a:r>
            <a:r>
              <a:rPr lang="de-DE" sz="3200" dirty="0"/>
              <a:t>6 Monate (WS 2025/26)</a:t>
            </a:r>
            <a:br>
              <a:rPr lang="de-DE" sz="3200" dirty="0"/>
            </a:br>
            <a:r>
              <a:rPr lang="de-DE" sz="3200" b="1" dirty="0"/>
              <a:t>Betreuer/Ansprechpartner: </a:t>
            </a:r>
            <a:br>
              <a:rPr lang="de-DE" sz="3200" dirty="0"/>
            </a:br>
            <a:r>
              <a:rPr lang="de-DE" sz="3200" dirty="0"/>
              <a:t>Prof. Dr.-Ing. Björn Hein</a:t>
            </a:r>
            <a:br>
              <a:rPr lang="de-DE" sz="3200" dirty="0"/>
            </a:br>
            <a:r>
              <a:rPr lang="de-DE" sz="3200" b="1" dirty="0"/>
              <a:t>Teammitglieder:</a:t>
            </a:r>
          </a:p>
          <a:p>
            <a:r>
              <a:rPr lang="de-DE" sz="3200" dirty="0"/>
              <a:t>Lukas </a:t>
            </a:r>
            <a:r>
              <a:rPr lang="de-DE" sz="3200" dirty="0" err="1"/>
              <a:t>Rübig</a:t>
            </a:r>
            <a:r>
              <a:rPr lang="de-DE" sz="3200" dirty="0"/>
              <a:t> (RKIM)</a:t>
            </a:r>
          </a:p>
          <a:p>
            <a:r>
              <a:rPr lang="de-DE" sz="3200" dirty="0"/>
              <a:t>Osman </a:t>
            </a:r>
            <a:r>
              <a:rPr lang="de-DE" sz="3200" dirty="0" err="1"/>
              <a:t>Marangoz</a:t>
            </a:r>
            <a:r>
              <a:rPr lang="de-DE" sz="3200" dirty="0"/>
              <a:t> (RKIM)</a:t>
            </a:r>
          </a:p>
          <a:p>
            <a:r>
              <a:rPr lang="de-DE" sz="3200" dirty="0"/>
              <a:t>Marcel Bahl-Fritz (RKIM)</a:t>
            </a:r>
            <a:br>
              <a:rPr lang="de-DE" sz="3200" dirty="0"/>
            </a:br>
            <a:endParaRPr lang="de-DE" sz="3200" dirty="0"/>
          </a:p>
        </p:txBody>
      </p:sp>
      <p:pic>
        <p:nvPicPr>
          <p:cNvPr id="38" name="Grafik 37">
            <a:extLst>
              <a:ext uri="{FF2B5EF4-FFF2-40B4-BE49-F238E27FC236}">
                <a16:creationId xmlns:a16="http://schemas.microsoft.com/office/drawing/2014/main" id="{619096C9-FC9E-E269-FFDD-343B6470C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6325" y="24225290"/>
            <a:ext cx="12687300" cy="4114800"/>
          </a:xfrm>
          <a:prstGeom prst="rect">
            <a:avLst/>
          </a:prstGeom>
        </p:spPr>
      </p:pic>
      <p:sp>
        <p:nvSpPr>
          <p:cNvPr id="40" name="Bildplatzhalter 39">
            <a:extLst>
              <a:ext uri="{FF2B5EF4-FFF2-40B4-BE49-F238E27FC236}">
                <a16:creationId xmlns:a16="http://schemas.microsoft.com/office/drawing/2014/main" id="{5251D230-4B2B-0A34-61EE-52223A8CCBC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1046229" y="16328155"/>
            <a:ext cx="9610724" cy="6355491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42" name="Bildplatzhalter 41">
            <a:extLst>
              <a:ext uri="{FF2B5EF4-FFF2-40B4-BE49-F238E27FC236}">
                <a16:creationId xmlns:a16="http://schemas.microsoft.com/office/drawing/2014/main" id="{EDF8F500-EC71-A230-182D-9FE9CB5EE84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6382723"/>
      </p:ext>
    </p:extLst>
  </p:cSld>
  <p:clrMapOvr>
    <a:masterClrMapping/>
  </p:clrMapOvr>
</p:sld>
</file>

<file path=ppt/theme/theme1.xml><?xml version="1.0" encoding="utf-8"?>
<a:theme xmlns:a="http://schemas.openxmlformats.org/drawingml/2006/main" name="MMT_Plakat_A3">
  <a:themeElements>
    <a:clrScheme name="HKA MMT">
      <a:dk1>
        <a:srgbClr val="000000"/>
      </a:dk1>
      <a:lt1>
        <a:srgbClr val="FFFFFF"/>
      </a:lt1>
      <a:dk2>
        <a:srgbClr val="FFFFFF"/>
      </a:dk2>
      <a:lt2>
        <a:srgbClr val="E7E6E6"/>
      </a:lt2>
      <a:accent1>
        <a:srgbClr val="2869AE"/>
      </a:accent1>
      <a:accent2>
        <a:srgbClr val="D62305"/>
      </a:accent2>
      <a:accent3>
        <a:srgbClr val="8B2C82"/>
      </a:accent3>
      <a:accent4>
        <a:srgbClr val="63368B"/>
      </a:accent4>
      <a:accent5>
        <a:srgbClr val="1D4595"/>
      </a:accent5>
      <a:accent6>
        <a:srgbClr val="198282"/>
      </a:accent6>
      <a:hlink>
        <a:srgbClr val="D62305"/>
      </a:hlink>
      <a:folHlink>
        <a:srgbClr val="2869A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00218_CAP_HKA_1.2_Plakat_DIN A3" id="{EE17AB03-823D-1D43-A29F-82AD2ABAFB94}" vid="{62F88BFE-A853-AA4F-8D70-B248F8B742A5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 kein FT</Template>
  <TotalTime>0</TotalTime>
  <Words>185</Words>
  <Application>Microsoft Office PowerPoint</Application>
  <PresentationFormat>Benutzerdefiniert</PresentationFormat>
  <Paragraphs>18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GT Pressura</vt:lpstr>
      <vt:lpstr>GT Pressura Light</vt:lpstr>
      <vt:lpstr>MMT_Plakat_A3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Valerie Thaller</dc:creator>
  <cp:lastModifiedBy>Marcel Bahl-Fritz</cp:lastModifiedBy>
  <cp:revision>135</cp:revision>
  <cp:lastPrinted>2020-09-16T08:27:55Z</cp:lastPrinted>
  <dcterms:created xsi:type="dcterms:W3CDTF">2020-05-13T09:52:37Z</dcterms:created>
  <dcterms:modified xsi:type="dcterms:W3CDTF">2026-03-23T08:47:43Z</dcterms:modified>
</cp:coreProperties>
</file>